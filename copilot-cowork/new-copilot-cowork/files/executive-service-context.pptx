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f36a033327468c" /><Relationship Type="http://schemas.openxmlformats.org/officeDocument/2006/relationships/extended-properties" Target="/docProps/app.xml" Id="Ra77fe37aee694a0a" /><Relationship Type="http://schemas.openxmlformats.org/officeDocument/2006/relationships/officeDocument" Target="/ppt/presentation.xml" Id="R3dba091570b141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02943874d2436a"/>
  </p:sldMasterIdLst>
  <p:notesMasterIdLst>
    <p:notesMasterId xmlns:r="http://schemas.openxmlformats.org/officeDocument/2006/relationships" r:id="R91162e84876c4070"/>
  </p:notesMasterIdLst>
  <p:sldIdLst>
    <p:sldId xmlns:r="http://schemas.openxmlformats.org/officeDocument/2006/relationships" id="256" r:id="Rb5009ab5c7874ae9"/>
    <p:sldId xmlns:r="http://schemas.openxmlformats.org/officeDocument/2006/relationships" id="257" r:id="R894f7a5b33de432d"/>
    <p:sldId xmlns:r="http://schemas.openxmlformats.org/officeDocument/2006/relationships" id="258" r:id="R3d128ae19f164a91"/>
    <p:sldId xmlns:r="http://schemas.openxmlformats.org/officeDocument/2006/relationships" id="259" r:id="R679daef400bc48c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f2bfd1c4ad478c" /><Relationship Type="http://schemas.openxmlformats.org/officeDocument/2006/relationships/slideMaster" Target="/ppt/slideMasters/slideMaster1.xml" Id="R4902943874d2436a" /><Relationship Type="http://schemas.openxmlformats.org/officeDocument/2006/relationships/notesMaster" Target="/ppt/notesMasters/notesMaster1.xml" Id="R91162e84876c4070" /><Relationship Type="http://schemas.openxmlformats.org/officeDocument/2006/relationships/presProps" Target="/ppt/presProps.xml" Id="R7c4ebe05213f444b" /><Relationship Type="http://schemas.openxmlformats.org/officeDocument/2006/relationships/tableStyles" Target="/ppt/tableStyles.xml" Id="Rad8eed43f99c48a7" /><Relationship Type="http://schemas.openxmlformats.org/officeDocument/2006/relationships/slide" Target="/ppt/slides/slide1.xml" Id="Rb5009ab5c7874ae9" /><Relationship Type="http://schemas.openxmlformats.org/officeDocument/2006/relationships/slide" Target="/ppt/slides/slide2.xml" Id="R894f7a5b33de432d" /><Relationship Type="http://schemas.openxmlformats.org/officeDocument/2006/relationships/slide" Target="/ppt/slides/slide3.xml" Id="R3d128ae19f164a91" /><Relationship Type="http://schemas.openxmlformats.org/officeDocument/2006/relationships/slide" Target="/ppt/slides/slide4.xml" Id="R679daef400bc48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128aaf96a649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b1b284d0314f8c" /><Relationship Type="http://schemas.openxmlformats.org/officeDocument/2006/relationships/notesMaster" Target="/ppt/notesMasters/notesMaster1.xml" Id="R696e596ec88042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1eacf79d7f4469" /><Relationship Type="http://schemas.openxmlformats.org/officeDocument/2006/relationships/notesMaster" Target="/ppt/notesMasters/notesMaster1.xml" Id="R86086232edce4e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18838153e34622" /><Relationship Type="http://schemas.openxmlformats.org/officeDocument/2006/relationships/notesMaster" Target="/ppt/notesMasters/notesMaster1.xml" Id="R5dde9a3f126b4b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9c2bc11db847f3" /><Relationship Type="http://schemas.openxmlformats.org/officeDocument/2006/relationships/notesMaster" Target="/ppt/notesMasters/notesMaster1.xml" Id="R09d3cfa1868c48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8380fa4f174a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de297d98c34e04" /><Relationship Type="http://schemas.openxmlformats.org/officeDocument/2006/relationships/slideLayout" Target="/ppt/slideLayouts/slideLayout1.xml" Id="R70b2f3b81acc4d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b2f3b81acc4d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e73898b984be2" /><Relationship Type="http://schemas.openxmlformats.org/officeDocument/2006/relationships/notesSlide" Target="/ppt/notesSlides/notesSlide1.xml" Id="Rf3b74722323b4b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1f90b3ad5f4b63" /><Relationship Type="http://schemas.openxmlformats.org/officeDocument/2006/relationships/notesSlide" Target="/ppt/notesSlides/notesSlide2.xml" Id="Re0a5ee3b9a784b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c830ebeb0340aa" /><Relationship Type="http://schemas.openxmlformats.org/officeDocument/2006/relationships/notesSlide" Target="/ppt/notesSlides/notesSlide3.xml" Id="Rb1cf569affa349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1486f5595f4298" /><Relationship Type="http://schemas.openxmlformats.org/officeDocument/2006/relationships/notesSlide" Target="/ppt/notesSlides/notesSlide4.xml" Id="Re7b8258f8a234a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91381D-55C6-4974-B818-5837ACE1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SERVICE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0697DD-9FD3-4763-8DC7-2F26264C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619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B2545"/>
                </a:solidFill>
              </a:defRPr>
            </a:pPr>
            <a:r>
              <a:rPr sz="4050" b="1">
                <a:solidFill>
                  <a:srgbClr val="0B2545"/>
                </a:solidFill>
              </a:rPr>
              <a:t>Customer Digital Platform</a:t>
            </a:r>
          </a:p>
          <a:p xmlns:a="http://schemas.openxmlformats.org/drawingml/2006/main">
            <a:pPr>
              <a:defRPr sz="4050" b="1">
                <a:solidFill>
                  <a:srgbClr val="0B2545"/>
                </a:solidFill>
              </a:defRPr>
            </a:pPr>
            <a:r>
              <a:rPr sz="4050" b="1">
                <a:solidFill>
                  <a:srgbClr val="0B2545"/>
                </a:solidFill>
              </a:rPr>
              <a:t>Executive Service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5980A9-1932-4C2A-A7A6-762B6700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7085"/>
                </a:solidFill>
              </a:defRPr>
            </a:pPr>
            <a:r>
              <a:rPr sz="1500">
                <a:solidFill>
                  <a:srgbClr val="667085"/>
                </a:solidFill>
              </a:rPr>
              <a:t>Fictional training scenario | As of 25 June 2026, 10:00 ICT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129210-101C-4763-BDC7-0D5D798D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23900"/>
            <a:ext cx="4000500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BABAFE-7EDA-4D61-B654-FDC83EE2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19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CURRENT STATUS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107417-00EE-4593-B548-A4600141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573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D97706"/>
                </a:solidFill>
              </a:defRPr>
            </a:pPr>
            <a:r>
              <a:rPr sz="3750" b="1">
                <a:solidFill>
                  <a:srgbClr val="D97706"/>
                </a:solidFill>
              </a:rPr>
              <a:t>AMBER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5FD1A4-0969-4DF5-ADDF-FF2302C2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00350"/>
            <a:ext cx="30003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B2545"/>
                </a:solidFill>
              </a:defRPr>
            </a:pPr>
            <a:r>
              <a:rPr sz="1650">
                <a:solidFill>
                  <a:srgbClr val="0B2545"/>
                </a:solidFill>
              </a:rPr>
              <a:t>The rollback reduced errors, but response time remains above the recovery target. Root cause is not confirmed.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BABAAD-F6E2-465A-BF25-9F8148B5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86450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7085"/>
                </a:solidFill>
              </a:defRPr>
            </a:pPr>
            <a:r>
              <a:rPr sz="1125">
                <a:solidFill>
                  <a:srgbClr val="667085"/>
                </a:solidFill>
              </a:rPr>
              <a:t>Northstar Digital Services</a:t>
            </a:r>
          </a:p>
          <a:p xmlns:a="http://schemas.openxmlformats.org/drawingml/2006/main">
            <a:pPr>
              <a:defRPr sz="1125">
                <a:solidFill>
                  <a:srgbClr val="667085"/>
                </a:solidFill>
              </a:defRPr>
            </a:pPr>
            <a:r>
              <a:rPr sz="1125">
                <a:solidFill>
                  <a:srgbClr val="667085"/>
                </a:solidFill>
              </a:rPr>
              <a:t>Customer Digital Platform</a:t>
            </a:r>
          </a:p>
        </p:txBody>
      </p:sp>
    </p:spTree>
    <p:extLst>
      <p:ext uri="{BB962C8B-B14F-4D97-AF65-F5344CB8AC3E}">
        <p14:creationId xmlns:p14="http://schemas.microsoft.com/office/powerpoint/2010/main" val="757130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E0A375-8F96-4ABC-B900-4E66C9FD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B21270-4254-4C9C-A291-641ABF4D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7715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B2545"/>
                </a:solidFill>
              </a:defRPr>
            </a:pPr>
            <a:r>
              <a:rPr sz="3150" b="1">
                <a:solidFill>
                  <a:srgbClr val="0B2545"/>
                </a:solidFill>
              </a:rPr>
              <a:t>Customer and service impact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C8C6AF-4A13-41A4-9790-108CD617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21B0F7-372B-43AC-9298-E493A9CA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2381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EB762B-98BA-4531-9335-6A421D26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92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B91C1C"/>
                </a:solidFill>
              </a:defRPr>
            </a:pPr>
            <a:r>
              <a:rPr sz="3150" b="1">
                <a:solidFill>
                  <a:srgbClr val="B91C1C"/>
                </a:solidFill>
              </a:rPr>
              <a:t>7.5%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DB82B1-DE7F-4D4B-9127-262D4F54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B2545"/>
                </a:solidFill>
              </a:defRPr>
            </a:pPr>
            <a:r>
              <a:rPr sz="1350">
                <a:solidFill>
                  <a:srgbClr val="0B2545"/>
                </a:solidFill>
              </a:rPr>
              <a:t>Peak error rate</a:t>
            </a:r>
          </a:p>
          <a:p xmlns:a="http://schemas.openxmlformats.org/drawingml/2006/main">
            <a:pPr>
              <a:defRPr sz="1350">
                <a:solidFill>
                  <a:srgbClr val="0B2545"/>
                </a:solidFill>
              </a:defRPr>
            </a:pPr>
            <a:r>
              <a:rPr sz="1350">
                <a:solidFill>
                  <a:srgbClr val="0B2545"/>
                </a:solidFill>
              </a:rPr>
              <a:t>at 08:30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B6E5DF-656C-48DB-9B21-386E5EED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00250"/>
            <a:ext cx="2381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2B5B97-9AD8-4C62-B4EC-CE608502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43150"/>
            <a:ext cx="192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B91C1C"/>
                </a:solidFill>
              </a:defRPr>
            </a:pPr>
            <a:r>
              <a:rPr sz="3150" b="1">
                <a:solidFill>
                  <a:srgbClr val="B91C1C"/>
                </a:solidFill>
              </a:rPr>
              <a:t>7.8 sec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A4BA21-7D13-4662-9DFF-F6A6FE43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194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B2545"/>
                </a:solidFill>
              </a:defRPr>
            </a:pPr>
            <a:r>
              <a:rPr sz="1350">
                <a:solidFill>
                  <a:srgbClr val="0B2545"/>
                </a:solidFill>
              </a:rPr>
              <a:t>Peak P95 response</a:t>
            </a:r>
          </a:p>
          <a:p xmlns:a="http://schemas.openxmlformats.org/drawingml/2006/main">
            <a:pPr>
              <a:defRPr sz="1350">
                <a:solidFill>
                  <a:srgbClr val="0B2545"/>
                </a:solidFill>
              </a:defRPr>
            </a:pPr>
            <a:r>
              <a:rPr sz="1350">
                <a:solidFill>
                  <a:srgbClr val="0B2545"/>
                </a:solidFill>
              </a:rPr>
              <a:t>at 08:30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DD2B92-1E8E-47F2-981B-F5B6772B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00250"/>
            <a:ext cx="2381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B81751-EE41-4FEF-B8D2-FC718B19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43150"/>
            <a:ext cx="192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B2545"/>
                </a:solidFill>
              </a:defRPr>
            </a:pPr>
            <a:r>
              <a:rPr sz="3150" b="1">
                <a:solidFill>
                  <a:srgbClr val="0B2545"/>
                </a:solidFill>
              </a:rPr>
              <a:t>460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81F801-0AAA-403E-A065-CDD3640C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B2545"/>
                </a:solidFill>
              </a:defRPr>
            </a:pPr>
            <a:r>
              <a:rPr sz="1350">
                <a:solidFill>
                  <a:srgbClr val="0B2545"/>
                </a:solidFill>
              </a:rPr>
              <a:t>Support contacts</a:t>
            </a:r>
          </a:p>
          <a:p xmlns:a="http://schemas.openxmlformats.org/drawingml/2006/main">
            <a:pPr>
              <a:defRPr sz="1350">
                <a:solidFill>
                  <a:srgbClr val="0B2545"/>
                </a:solidFill>
              </a:defRPr>
            </a:pPr>
            <a:r>
              <a:rPr sz="1350">
                <a:solidFill>
                  <a:srgbClr val="0B2545"/>
                </a:solidFill>
              </a:rPr>
              <a:t>by 10:00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3B9937-8BFF-48F3-85B5-F3DD99BB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00250"/>
            <a:ext cx="2381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44926C-AC9A-4B8F-9AFE-0FC59227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43150"/>
            <a:ext cx="192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B2545"/>
                </a:solidFill>
              </a:defRPr>
            </a:pPr>
            <a:r>
              <a:rPr sz="3150" b="1">
                <a:solidFill>
                  <a:srgbClr val="0B2545"/>
                </a:solidFill>
              </a:rPr>
              <a:t>32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5E1AA9-9FFD-4090-A82F-E26253F2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194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B2545"/>
                </a:solidFill>
              </a:defRPr>
            </a:pPr>
            <a:r>
              <a:rPr sz="1350">
                <a:solidFill>
                  <a:srgbClr val="0B2545"/>
                </a:solidFill>
              </a:rPr>
              <a:t>Enterprise accounts</a:t>
            </a:r>
          </a:p>
          <a:p xmlns:a="http://schemas.openxmlformats.org/drawingml/2006/main">
            <a:pPr>
              <a:defRPr sz="1350">
                <a:solidFill>
                  <a:srgbClr val="0B2545"/>
                </a:solidFill>
              </a:defRPr>
            </a:pPr>
            <a:r>
              <a:rPr sz="1350">
                <a:solidFill>
                  <a:srgbClr val="0B2545"/>
                </a:solidFill>
              </a:rPr>
              <a:t>flagged for monitoring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45C54F-FBF0-41CF-85A8-C66CC7BF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5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2545"/>
                </a:solidFill>
              </a:defRPr>
            </a:pPr>
            <a:r>
              <a:rPr sz="1350" b="1">
                <a:solidFill>
                  <a:srgbClr val="0B2545"/>
                </a:solidFill>
              </a:rPr>
              <a:t>Evidence boundary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504B2A-34BC-4CCE-9B03-4BFBB7C5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7085"/>
                </a:solidFill>
              </a:defRPr>
            </a:pPr>
            <a:r>
              <a:rPr sz="1500">
                <a:solidFill>
                  <a:srgbClr val="667085"/>
                </a:solidFill>
              </a:rPr>
              <a:t>Measured status and customer-contact volume are confirmed. The configuration change remains a working hypothesis, not a root-cause statement.</a:t>
            </a:r>
          </a:p>
        </p:txBody>
      </p:sp>
    </p:spTree>
    <p:extLst>
      <p:ext uri="{BB962C8B-B14F-4D97-AF65-F5344CB8AC3E}">
        <p14:creationId xmlns:p14="http://schemas.microsoft.com/office/powerpoint/2010/main" val="7750840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E554F1-C7B7-41F7-AD43-5B8EB8B8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BA9222-D7F6-4716-B4ED-9463AC17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7715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B2545"/>
                </a:solidFill>
              </a:defRPr>
            </a:pPr>
            <a:r>
              <a:rPr sz="3150" b="1">
                <a:solidFill>
                  <a:srgbClr val="0B2545"/>
                </a:solidFill>
              </a:rPr>
              <a:t>Executive decisions required by 10:30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6D1418-0E96-4AD9-B6BE-8DC19C86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3FCBCF-383C-4B28-9118-3FBB1476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7706"/>
                </a:solidFill>
              </a:defRPr>
            </a:pPr>
            <a:r>
              <a:rPr sz="2250" b="1">
                <a:solidFill>
                  <a:srgbClr val="D97706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CB0C91-9D16-4ED4-AF58-C1F74BEC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09750"/>
            <a:ext cx="10191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5947EE-08DF-458A-A987-7D2E47CC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9812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2545"/>
                </a:solidFill>
              </a:defRPr>
            </a:pPr>
            <a:r>
              <a:rPr sz="1350" b="1">
                <a:solidFill>
                  <a:srgbClr val="0B2545"/>
                </a:solidFill>
              </a:rPr>
              <a:t>Customer advisory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8694E6-21B4-4FE6-97AC-0D186602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9812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B2545"/>
                </a:solidFill>
              </a:defRPr>
            </a:pPr>
            <a:r>
              <a:rPr sz="1350">
                <a:solidFill>
                  <a:srgbClr val="0B2545"/>
                </a:solidFill>
              </a:rPr>
              <a:t>Approve wording if service remains AMBER at 10:20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DDE903-C350-4552-8CCB-83624018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98120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67085"/>
                </a:solidFill>
              </a:defRPr>
            </a:pPr>
            <a:r>
              <a:rPr sz="1200">
                <a:solidFill>
                  <a:srgbClr val="667085"/>
                </a:solidFill>
              </a:rPr>
              <a:t>Mira Chanan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418CDB-07B0-45AE-BAC4-8EFD66BD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7706"/>
                </a:solidFill>
              </a:defRPr>
            </a:pPr>
            <a:r>
              <a:rPr sz="2250" b="1">
                <a:solidFill>
                  <a:srgbClr val="D97706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34C7B8-F1CD-4092-A36B-2D1DF3D1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10191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4B1A0A-7373-4310-A4ED-0C441E97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219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2545"/>
                </a:solidFill>
              </a:defRPr>
            </a:pPr>
            <a:r>
              <a:rPr sz="1350" b="1">
                <a:solidFill>
                  <a:srgbClr val="0B2545"/>
                </a:solidFill>
              </a:rPr>
              <a:t>Vendor escalation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956894-6D86-4F42-9ED1-478C1752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219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B2545"/>
                </a:solidFill>
              </a:defRPr>
            </a:pPr>
            <a:r>
              <a:rPr sz="1350">
                <a:solidFill>
                  <a:srgbClr val="0B2545"/>
                </a:solidFill>
              </a:rPr>
              <a:t>Authorize named identity-platform technical bridge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66CCF0-B6FF-47EF-8B5C-8A96B863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1945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67085"/>
                </a:solidFill>
              </a:defRPr>
            </a:pPr>
            <a:r>
              <a:rPr sz="1200">
                <a:solidFill>
                  <a:srgbClr val="667085"/>
                </a:solidFill>
              </a:rPr>
              <a:t>Narin Kittipong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BDE9DF-A144-4FF8-BD44-7194F36E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7706"/>
                </a:solidFill>
              </a:defRPr>
            </a:pPr>
            <a:r>
              <a:rPr sz="2250" b="1">
                <a:solidFill>
                  <a:srgbClr val="D97706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02C610-8206-42C7-8757-03B292C6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86250"/>
            <a:ext cx="10191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C64A0B-2A25-4995-B78E-5E8B63A0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4577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2545"/>
                </a:solidFill>
              </a:defRPr>
            </a:pPr>
            <a:r>
              <a:rPr sz="1350" b="1">
                <a:solidFill>
                  <a:srgbClr val="0B2545"/>
                </a:solidFill>
              </a:rPr>
              <a:t>Release control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54145C-83B5-406B-A454-C731E609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4577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B2545"/>
                </a:solidFill>
              </a:defRPr>
            </a:pPr>
            <a:r>
              <a:rPr sz="1350">
                <a:solidFill>
                  <a:srgbClr val="0B2545"/>
                </a:solidFill>
              </a:rPr>
              <a:t>Defer noncritical releases until stability is restored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173B61-0A24-4CD8-B526-D2D476CB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45770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67085"/>
                </a:solidFill>
              </a:defRPr>
            </a:pPr>
            <a:r>
              <a:rPr sz="1200">
                <a:solidFill>
                  <a:srgbClr val="667085"/>
                </a:solidFill>
              </a:rPr>
              <a:t>Lina Sutham</a:t>
            </a:r>
          </a:p>
        </p:txBody>
      </p:sp>
    </p:spTree>
    <p:extLst>
      <p:ext uri="{BB962C8B-B14F-4D97-AF65-F5344CB8AC3E}">
        <p14:creationId xmlns:p14="http://schemas.microsoft.com/office/powerpoint/2010/main" val="7217149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8F5578-2590-465C-A2A6-C5697515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RECOVERY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2B74D9-5769-47EF-9D78-4628B2AA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7715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B2545"/>
                </a:solidFill>
              </a:defRPr>
            </a:pPr>
            <a:r>
              <a:rPr sz="3150" b="1">
                <a:solidFill>
                  <a:srgbClr val="0B2545"/>
                </a:solidFill>
              </a:rPr>
              <a:t>Operating principles for the next 90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8AAABA-36B4-4414-854F-685E4FC0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DEEB88-EE4D-4FD7-9046-360E57CA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97706"/>
                </a:solidFill>
              </a:defRPr>
            </a:pPr>
            <a:r>
              <a:rPr sz="2100" b="1">
                <a:solidFill>
                  <a:srgbClr val="D97706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58242F-D123-4953-9ADD-26367D7B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B2545"/>
                </a:solidFill>
              </a:defRPr>
            </a:pPr>
            <a:r>
              <a:rPr sz="2250" b="1">
                <a:solidFill>
                  <a:srgbClr val="0B2545"/>
                </a:solidFill>
              </a:rPr>
              <a:t>Stabilize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E4FA7E-5873-47DE-A719-B90E18DC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304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7085"/>
                </a:solidFill>
              </a:defRPr>
            </a:pPr>
            <a:r>
              <a:rPr sz="1500">
                <a:solidFill>
                  <a:srgbClr val="667085"/>
                </a:solidFill>
              </a:rPr>
              <a:t>Maintain the rollback, observe a 15-minute stable error-rate window, and protect the recovery bridge.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91C88A-0D86-4665-A809-83849B0C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7907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97706"/>
                </a:solidFill>
              </a:defRPr>
            </a:pPr>
            <a:r>
              <a:rPr sz="2100" b="1">
                <a:solidFill>
                  <a:srgbClr val="D97706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AB5382-5549-40A6-BD80-0FEBDBA0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765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B2545"/>
                </a:solidFill>
              </a:defRPr>
            </a:pPr>
            <a:r>
              <a:rPr sz="2250" b="1">
                <a:solidFill>
                  <a:srgbClr val="0B2545"/>
                </a:solidFill>
              </a:rPr>
              <a:t>Explain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84717A-A974-4E59-BDC1-98A0ADCF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304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7085"/>
                </a:solidFill>
              </a:defRPr>
            </a:pPr>
            <a:r>
              <a:rPr sz="1500">
                <a:solidFill>
                  <a:srgbClr val="667085"/>
                </a:solidFill>
              </a:rPr>
              <a:t>Separate confirmed measurements from the working root-cause hypothesis before any customer communication.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E18742-46BA-45B2-B8E7-CA8725FC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907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97706"/>
                </a:solidFill>
              </a:defRPr>
            </a:pPr>
            <a:r>
              <a:rPr sz="2100" b="1">
                <a:solidFill>
                  <a:srgbClr val="D97706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54F4A9-16B5-4898-B30C-ACD04A8A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765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B2545"/>
                </a:solidFill>
              </a:defRPr>
            </a:pPr>
            <a:r>
              <a:rPr sz="2250" b="1">
                <a:solidFill>
                  <a:srgbClr val="0B2545"/>
                </a:solidFill>
              </a:rPr>
              <a:t>Decide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4953AF-7E94-463D-A149-C19CFED7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43250"/>
            <a:ext cx="304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7085"/>
                </a:solidFill>
              </a:defRPr>
            </a:pPr>
            <a:r>
              <a:rPr sz="1500">
                <a:solidFill>
                  <a:srgbClr val="667085"/>
                </a:solidFill>
              </a:rPr>
              <a:t>Use the action register and executive brief to approve external communication, vendor escalation, and release control.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F1747A-A7B9-4737-99E5-B0687BDD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0"/>
            <a:ext cx="109918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F2FFD2-1A05-4A44-99B8-880F863F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578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2545"/>
                </a:solidFill>
              </a:defRPr>
            </a:pPr>
            <a:r>
              <a:rPr sz="1350" b="1">
                <a:solidFill>
                  <a:srgbClr val="0B2545"/>
                </a:solidFill>
              </a:rPr>
              <a:t>Workshop boundary: create and review draft outputs only. Do not send email, post in Teams, or approve external actions.</a:t>
            </a:r>
          </a:p>
        </p:txBody>
      </p:sp>
    </p:spTree>
    <p:extLst>
      <p:ext uri="{BB962C8B-B14F-4D97-AF65-F5344CB8AC3E}">
        <p14:creationId xmlns:p14="http://schemas.microsoft.com/office/powerpoint/2010/main" val="11876739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2026-06-24T18:41:02.6670000Z</dcterms:created>
  <dcterms:modified xsi:type="dcterms:W3CDTF">2026-06-24T18:41:02.6670000Z</dcterms:modified>
</coreProperties>
</file>